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616" y="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9371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377440"/>
            <a:ext cx="5943600" cy="5943600"/>
          </a:xfrm>
          <a:prstGeom prst="ellipse">
            <a:avLst/>
          </a:prstGeom>
          <a:solidFill>
            <a:srgbClr val="2436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32720" y="-1005840"/>
            <a:ext cx="3108960" cy="310896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280160" y="5120640"/>
            <a:ext cx="2926080" cy="2926080"/>
          </a:xfrm>
          <a:prstGeom prst="ellipse">
            <a:avLst/>
          </a:prstGeom>
          <a:solidFill>
            <a:srgbClr val="2436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tmp/work/pptx_build/assets/icons/FaTru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772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ACADEMY CLASSROOM CHALLENGE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187452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SetuHaul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822960" y="3063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Exception &amp; Dock-Slot Coordination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22960" y="37033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F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conversational agent that proposes real dock slots and never double-books one -- proven against the live seeded database, not a mock-up.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22960" y="4892040"/>
            <a:ext cx="5029200" cy="0"/>
          </a:xfrm>
          <a:prstGeom prst="line">
            <a:avLst/>
          </a:prstGeom>
          <a:noFill/>
          <a:ln w="12700">
            <a:solidFill>
              <a:srgbClr val="3545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22960" y="5029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 Sood   </a:t>
            </a: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Jamuna ·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Neeraj   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5394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Document &amp; Working Prototype  —  August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sections, from the problem to a live, real-backend demo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1481328"/>
          </a:xfrm>
          <a:prstGeom prst="roundRect">
            <a:avLst>
              <a:gd name="adj" fmla="val 7407"/>
            </a:avLst>
          </a:prstGeom>
          <a:solidFill>
            <a:srgbClr val="F4F6FA"/>
          </a:solidFill>
          <a:ln/>
          <a:effectLst>
            <a:outerShdw blurRad="762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2130552"/>
            <a:ext cx="777240" cy="77724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tmp/work/pptx_build/assets/icons/FaExclamation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53" y="2231593"/>
            <a:ext cx="575158" cy="5751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00253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74520" y="2404872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dock coordination breaks down at scale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55080" y="1783080"/>
            <a:ext cx="5257800" cy="1481328"/>
          </a:xfrm>
          <a:prstGeom prst="roundRect">
            <a:avLst>
              <a:gd name="adj" fmla="val 7407"/>
            </a:avLst>
          </a:prstGeom>
          <a:solidFill>
            <a:srgbClr val="F4F6FA"/>
          </a:solidFill>
          <a:ln/>
          <a:effectLst>
            <a:outerShdw blurRad="762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611112" y="2130552"/>
            <a:ext cx="777240" cy="77724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tmp/work/pptx_build/assets/icons/Fa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2153" y="2231593"/>
            <a:ext cx="575158" cy="5751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9520" y="2002536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Principle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589520" y="2404872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proposes, the database decides -- enforced by atomic Postgres RPCs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584448"/>
            <a:ext cx="5257800" cy="1481328"/>
          </a:xfrm>
          <a:prstGeom prst="roundRect">
            <a:avLst>
              <a:gd name="adj" fmla="val 7407"/>
            </a:avLst>
          </a:prstGeom>
          <a:solidFill>
            <a:srgbClr val="F4F6FA"/>
          </a:solidFill>
          <a:ln/>
          <a:effectLst>
            <a:outerShdw blurRad="762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96112" y="3931920"/>
            <a:ext cx="777240" cy="77724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tmp/work/pptx_build/assets/icons/FaSite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153" y="4032961"/>
            <a:ext cx="575158" cy="5751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380390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74520" y="420624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agent on Bedrock AgentCore Runtime, deployed to real AWS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55080" y="3584448"/>
            <a:ext cx="5257800" cy="1481328"/>
          </a:xfrm>
          <a:prstGeom prst="roundRect">
            <a:avLst>
              <a:gd name="adj" fmla="val 7407"/>
            </a:avLst>
          </a:prstGeom>
          <a:solidFill>
            <a:srgbClr val="F4F6FA"/>
          </a:solidFill>
          <a:ln/>
          <a:effectLst>
            <a:outerShdw blurRad="762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611112" y="3931920"/>
            <a:ext cx="777240" cy="77724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/tmp/work/pptx_build/assets/icons/FaTool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2153" y="4032961"/>
            <a:ext cx="575158" cy="57515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89520" y="380390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It's Built &amp; Hosted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589520" y="420624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structure, the AWS backbone, and the eight tools the agent can call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40080" y="5385816"/>
            <a:ext cx="5257800" cy="1481328"/>
          </a:xfrm>
          <a:prstGeom prst="roundRect">
            <a:avLst>
              <a:gd name="adj" fmla="val 7407"/>
            </a:avLst>
          </a:prstGeom>
          <a:solidFill>
            <a:srgbClr val="F4F6FA"/>
          </a:solidFill>
          <a:ln/>
          <a:effectLst>
            <a:outerShdw blurRad="762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896112" y="5733288"/>
            <a:ext cx="777240" cy="77724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/tmp/work/pptx_build/assets/icons/FaTru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7153" y="5834329"/>
            <a:ext cx="575158" cy="57515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874520" y="560527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1874520" y="600760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FleetPulse app, live at set-haul-ui.vercel.app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355080" y="5385816"/>
            <a:ext cx="5257800" cy="1481328"/>
          </a:xfrm>
          <a:prstGeom prst="roundRect">
            <a:avLst>
              <a:gd name="adj" fmla="val 7407"/>
            </a:avLst>
          </a:prstGeom>
          <a:solidFill>
            <a:srgbClr val="F4F6FA"/>
          </a:solidFill>
          <a:ln/>
          <a:effectLst>
            <a:outerShdw blurRad="762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6611112" y="5733288"/>
            <a:ext cx="777240" cy="77724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/tmp/work/pptx_build/assets/icons/FaChartLin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2153" y="5834329"/>
            <a:ext cx="575158" cy="57515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589520" y="5605272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Roadmap</a:t>
            </a:r>
            <a:endParaRPr lang="en-US" sz="1700" dirty="0"/>
          </a:p>
        </p:txBody>
      </p:sp>
      <p:sp>
        <p:nvSpPr>
          <p:cNvPr id="33" name="Text 25"/>
          <p:cNvSpPr/>
          <p:nvPr/>
        </p:nvSpPr>
        <p:spPr>
          <a:xfrm>
            <a:off x="7589520" y="600760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we'd measure this, and what's next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Coordinating drivers and docks at scale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280–360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23500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truckload shipments per day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308152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83133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facilities · 32 dock doors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4562856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4+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40080" y="531266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systems in play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1600200"/>
            <a:ext cx="7086600" cy="4434840"/>
          </a:xfrm>
          <a:prstGeom prst="roundRect">
            <a:avLst>
              <a:gd name="adj" fmla="val 2887"/>
            </a:avLst>
          </a:prstGeom>
          <a:solidFill>
            <a:srgbClr val="F4F6FA"/>
          </a:solidFill>
          <a:ln/>
          <a:effectLst>
            <a:outerShdw blurRad="762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00600" y="1920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system holds the full picture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00600" y="2514600"/>
            <a:ext cx="6309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shipment plan gives the original ETA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driver can declare a revised ETA through chat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check-in shows what's actually happening in the yard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warehouse system alone owns real dock capacity and rules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800600" y="4572000"/>
            <a:ext cx="6309360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00600" y="475488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SetuHaul's job: unify these through ordinary chat, without ever promising the same dock slot to two trucks.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boundary drives every design decision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2436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05840" y="1481328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F3C0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“SetuHaul does not need an LLM to calculate warehouse capacity or safely allocate scarce slots.”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05840" y="2139696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brief, section 2. Every design choice in this project follows from taking that sentence seriously.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2971800"/>
            <a:ext cx="5257800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0120" y="3291840"/>
            <a:ext cx="640080" cy="64008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tmp/work/pptx_build/assets/icons/FaCom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330" y="3375050"/>
            <a:ext cx="473659" cy="47365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3291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783080" y="36301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to be approximate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60120" y="416052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 free-text message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clarifying question when unsure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an option in plain language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263640" y="2971800"/>
            <a:ext cx="5257800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583680" y="3291840"/>
            <a:ext cx="640080" cy="64008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/tmp/work/pptx_build/assets/icons/Fa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6890" y="3375050"/>
            <a:ext cx="473659" cy="47365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06640" y="3291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7406640" y="36301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deterministic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583680" y="416052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slot actually feasible?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gets it when two drivers want it?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booking safely, atomically recorded?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operational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delays create a scheduling problem, not just a chat problem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01568" cy="4434840"/>
          </a:xfrm>
          <a:prstGeom prst="roundRect">
            <a:avLst>
              <a:gd name="adj" fmla="val 3495"/>
            </a:avLst>
          </a:prstGeom>
          <a:solidFill>
            <a:srgbClr val="F4F6FA"/>
          </a:solidFill>
          <a:ln/>
          <a:effectLst>
            <a:outerShdw blurRad="762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192938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6112" y="19293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EXCEPTION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6112" y="2404872"/>
            <a:ext cx="2889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driver reports a delay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96112" y="3291840"/>
            <a:ext cx="288950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●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/ road closure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●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breakdown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●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/ dock waiting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●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or weather impact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93692" y="1691640"/>
            <a:ext cx="3401568" cy="4434840"/>
          </a:xfrm>
          <a:prstGeom prst="roundRect">
            <a:avLst>
              <a:gd name="adj" fmla="val 3495"/>
            </a:avLst>
          </a:prstGeom>
          <a:solidFill>
            <a:srgbClr val="F4F6FA"/>
          </a:solidFill>
          <a:ln/>
          <a:effectLst>
            <a:outerShdw blurRad="762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49724" y="192938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49724" y="19293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IMPACT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49724" y="2404872"/>
            <a:ext cx="2889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Will the appointment still work?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649724" y="3291840"/>
            <a:ext cx="288950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●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Recalculate or record ETA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●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current appointment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●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dock/facility state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●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unnecessary rescheduling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47304" y="1691640"/>
            <a:ext cx="3401568" cy="4434840"/>
          </a:xfrm>
          <a:prstGeom prst="roundRect">
            <a:avLst>
              <a:gd name="adj" fmla="val 3495"/>
            </a:avLst>
          </a:prstGeom>
          <a:solidFill>
            <a:srgbClr val="F4F6FA"/>
          </a:solidFill>
          <a:ln/>
          <a:effectLst>
            <a:outerShdw blurRad="762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403336" y="192938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03336" y="192938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COORDINATION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403336" y="2404872"/>
            <a:ext cx="2889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not, find a safe alternative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403336" y="3291840"/>
            <a:ext cx="288950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●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only feasible slots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●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double-booking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●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→ confirm atomically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●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when automation should stop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conversational layer that understands the driver, while deterministic systems control operational truth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609344" y="3017520"/>
            <a:ext cx="8558784" cy="0"/>
          </a:xfrm>
          <a:prstGeom prst="line">
            <a:avLst/>
          </a:prstGeom>
          <a:noFill/>
          <a:ln w="25400">
            <a:solidFill>
              <a:srgbClr val="DCE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938528" cy="228600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9050">
            <a:solidFill>
              <a:srgbClr val="1C9099"/>
            </a:solidFill>
            <a:prstDash val="solid"/>
          </a:ln>
          <a:effectLst>
            <a:outerShdw blurRad="762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426464" y="20756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C90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26464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587752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C9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" y="2971800"/>
            <a:ext cx="16093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the driver's issue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79776" y="1874520"/>
            <a:ext cx="1938528" cy="228600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9050">
            <a:solidFill>
              <a:srgbClr val="2C5F8A"/>
            </a:solidFill>
            <a:prstDash val="solid"/>
          </a:ln>
          <a:effectLst>
            <a:outerShdw blurRad="762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566160" y="20756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C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66160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79776" y="2587752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C5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944368" y="2971800"/>
            <a:ext cx="16093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shipment / ETA / appointment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19472" y="1874520"/>
            <a:ext cx="1938528" cy="228600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9050">
            <a:solidFill>
              <a:srgbClr val="7B4FA0"/>
            </a:solidFill>
            <a:prstDash val="solid"/>
          </a:ln>
          <a:effectLst>
            <a:outerShdw blurRad="762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705856" y="20756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7B4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705856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19472" y="2587752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B4F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84064" y="2971800"/>
            <a:ext cx="16093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operational impact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059168" y="1874520"/>
            <a:ext cx="1938528" cy="228600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9050">
            <a:solidFill>
              <a:srgbClr val="E8871E"/>
            </a:solidFill>
            <a:prstDash val="solid"/>
          </a:ln>
          <a:effectLst>
            <a:outerShdw blurRad="762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845552" y="20756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845552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59168" y="2587752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223760" y="2971800"/>
            <a:ext cx="16093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Record, hold, confirm or escalate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198864" y="1874520"/>
            <a:ext cx="1938528" cy="228600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  <a:effectLst>
            <a:outerShdw blurRad="762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985248" y="20756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985248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198864" y="2587752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363456" y="2971800"/>
            <a:ext cx="16093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only verified outcomes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" y="4617720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60120" y="475488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rule: the LLM never claims an operational action happened unless a tool/database operation returns success.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architecture, end to end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3C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passes through the same non-negotiable core, no matter which door it came in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08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7F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3483864" cy="658368"/>
          </a:xfrm>
          <a:prstGeom prst="roundRect">
            <a:avLst>
              <a:gd name="adj" fmla="val 11111"/>
            </a:avLst>
          </a:prstGeom>
          <a:solidFill>
            <a:srgbClr val="24365C"/>
          </a:solidFill>
          <a:ln w="12700">
            <a:solidFill>
              <a:srgbClr val="7FC4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86384" y="1389888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C4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UI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6384" y="1618488"/>
            <a:ext cx="3191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9F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FleetPulse chatbot widget — posts to /api/chat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352544" y="1325880"/>
            <a:ext cx="3483864" cy="658368"/>
          </a:xfrm>
          <a:prstGeom prst="roundRect">
            <a:avLst>
              <a:gd name="adj" fmla="val 11111"/>
            </a:avLst>
          </a:prstGeom>
          <a:solidFill>
            <a:srgbClr val="24365C"/>
          </a:solidFill>
          <a:ln w="12700">
            <a:solidFill>
              <a:srgbClr val="7FC4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498848" y="1389888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C4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UI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98848" y="1618488"/>
            <a:ext cx="3191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9F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Shipment &amp; Dock Slot screens — direct hold/confirm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065008" y="1325880"/>
            <a:ext cx="3483864" cy="658368"/>
          </a:xfrm>
          <a:prstGeom prst="roundRect">
            <a:avLst>
              <a:gd name="adj" fmla="val 11111"/>
            </a:avLst>
          </a:prstGeom>
          <a:solidFill>
            <a:srgbClr val="24365C"/>
          </a:solidFill>
          <a:ln w="12700">
            <a:solidFill>
              <a:srgbClr val="7FC4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11312" y="1389888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C4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11312" y="1618488"/>
            <a:ext cx="3191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9F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chat, or taps inside the app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0080" y="2112264"/>
            <a:ext cx="10908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A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340864"/>
            <a:ext cx="3483864" cy="658368"/>
          </a:xfrm>
          <a:prstGeom prst="roundRect">
            <a:avLst>
              <a:gd name="adj" fmla="val 11111"/>
            </a:avLst>
          </a:prstGeom>
          <a:solidFill>
            <a:srgbClr val="24365C"/>
          </a:solidFill>
          <a:ln w="12700">
            <a:solidFill>
              <a:srgbClr val="9AA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86384" y="2404872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A0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 Agent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6384" y="2633472"/>
            <a:ext cx="3191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9F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agent.py — 8 typed tools, AgentExecutor on Bedrock AgentCore Runtime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352544" y="2340864"/>
            <a:ext cx="3483864" cy="658368"/>
          </a:xfrm>
          <a:prstGeom prst="roundRect">
            <a:avLst>
              <a:gd name="adj" fmla="val 11111"/>
            </a:avLst>
          </a:prstGeom>
          <a:solidFill>
            <a:srgbClr val="24365C"/>
          </a:solidFill>
          <a:ln w="12700">
            <a:solidFill>
              <a:srgbClr val="9AA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98848" y="2404872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A0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98848" y="2633472"/>
            <a:ext cx="3191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9F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via OpenRouter — not a Bedrock-native model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065008" y="2340864"/>
            <a:ext cx="3483864" cy="658368"/>
          </a:xfrm>
          <a:prstGeom prst="roundRect">
            <a:avLst>
              <a:gd name="adj" fmla="val 11111"/>
            </a:avLst>
          </a:prstGeom>
          <a:solidFill>
            <a:srgbClr val="24365C"/>
          </a:solidFill>
          <a:ln w="12700">
            <a:solidFill>
              <a:srgbClr val="9AA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11312" y="2404872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A0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chat_messages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11312" y="2633472"/>
            <a:ext cx="3191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9F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driver/assistant message persisted per session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0080" y="3127248"/>
            <a:ext cx="10908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E29A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— THE LLM PROPOSES, THE DATABASE DECIDES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3355848"/>
            <a:ext cx="3483864" cy="621792"/>
          </a:xfrm>
          <a:prstGeom prst="roundRect">
            <a:avLst>
              <a:gd name="adj" fmla="val 11765"/>
            </a:avLst>
          </a:prstGeom>
          <a:solidFill>
            <a:srgbClr val="24365C"/>
          </a:solidFill>
          <a:ln w="12700">
            <a:solidFill>
              <a:srgbClr val="E29A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86384" y="3419856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9A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REST API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6384" y="3648456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9F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server/routes.ts — independent of the agent, same RPCs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352544" y="3355848"/>
            <a:ext cx="3483864" cy="621792"/>
          </a:xfrm>
          <a:prstGeom prst="roundRect">
            <a:avLst>
              <a:gd name="adj" fmla="val 11765"/>
            </a:avLst>
          </a:prstGeom>
          <a:solidFill>
            <a:srgbClr val="24365C"/>
          </a:solidFill>
          <a:ln w="12700">
            <a:solidFill>
              <a:srgbClr val="E29A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498848" y="3419856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9A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schema.py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98848" y="3648456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9F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 is pydantic-validated first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065008" y="3355848"/>
            <a:ext cx="3483864" cy="621792"/>
          </a:xfrm>
          <a:prstGeom prst="roundRect">
            <a:avLst>
              <a:gd name="adj" fmla="val 11765"/>
            </a:avLst>
          </a:prstGeom>
          <a:solidFill>
            <a:srgbClr val="24365C"/>
          </a:solidFill>
          <a:ln w="12700">
            <a:solidFill>
              <a:srgbClr val="E29A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211312" y="3419856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9A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Tools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11312" y="3648456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9F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typed tools: lookup, record, check, hold/confirm/release, escalate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40080" y="4050792"/>
            <a:ext cx="3483864" cy="621792"/>
          </a:xfrm>
          <a:prstGeom prst="roundRect">
            <a:avLst>
              <a:gd name="adj" fmla="val 11765"/>
            </a:avLst>
          </a:prstGeom>
          <a:solidFill>
            <a:srgbClr val="24365C"/>
          </a:solidFill>
          <a:ln w="12700">
            <a:solidFill>
              <a:srgbClr val="E29A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86384" y="4114800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9A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hold_slot_atomic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86384" y="4343400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9F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a slot — conflict if already held/booked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352544" y="4050792"/>
            <a:ext cx="3483864" cy="621792"/>
          </a:xfrm>
          <a:prstGeom prst="roundRect">
            <a:avLst>
              <a:gd name="adj" fmla="val 11765"/>
            </a:avLst>
          </a:prstGeom>
          <a:solidFill>
            <a:srgbClr val="24365C"/>
          </a:solidFill>
          <a:ln w="12700">
            <a:solidFill>
              <a:srgbClr val="E29A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498848" y="4114800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9A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confirm_slot_atomic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498848" y="4343400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9F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 hold — verifies still valid &amp; unexpired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065008" y="4050792"/>
            <a:ext cx="3483864" cy="621792"/>
          </a:xfrm>
          <a:prstGeom prst="roundRect">
            <a:avLst>
              <a:gd name="adj" fmla="val 11765"/>
            </a:avLst>
          </a:prstGeom>
          <a:solidFill>
            <a:srgbClr val="24365C"/>
          </a:solidFill>
          <a:ln w="12700">
            <a:solidFill>
              <a:srgbClr val="E29A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211312" y="4114800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9A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release_hold_atomic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211312" y="4343400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9F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a hold early (driver changes their mind)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40080" y="4800600"/>
            <a:ext cx="10908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2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0080" y="5029200"/>
            <a:ext cx="7772400" cy="594360"/>
          </a:xfrm>
          <a:prstGeom prst="roundRect">
            <a:avLst>
              <a:gd name="adj" fmla="val 12308"/>
            </a:avLst>
          </a:prstGeom>
          <a:solidFill>
            <a:srgbClr val="24365C"/>
          </a:solidFill>
          <a:ln w="12700">
            <a:solidFill>
              <a:srgbClr val="82B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86384" y="5093208"/>
            <a:ext cx="7479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2B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 Postgres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86384" y="5321808"/>
            <a:ext cx="7479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800" dirty="0">
                <a:solidFill>
                  <a:srgbClr val="9F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 · appointments · appointment_slots · driver_exceptions · eta_updates · chat_messages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8686800" y="5029200"/>
            <a:ext cx="2862072" cy="594360"/>
          </a:xfrm>
          <a:prstGeom prst="roundRect">
            <a:avLst>
              <a:gd name="adj" fmla="val 12308"/>
            </a:avLst>
          </a:prstGeom>
          <a:solidFill>
            <a:srgbClr val="24365C"/>
          </a:solidFill>
          <a:ln w="12700">
            <a:solidFill>
              <a:srgbClr val="9FB1D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833104" y="5093208"/>
            <a:ext cx="2569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B1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Upstash Redis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833104" y="5321808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9F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ID cache — not in the write path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40080" y="5715000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F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migration_v2.sql before the agent — the RPCs and tables it depends on must exist first.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 — the SetHaul repo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top-level folders: AWS deploy config, agent code, and the FleetPulse driver app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294376" cy="2423160"/>
          </a:xfrm>
          <a:prstGeom prst="roundRect">
            <a:avLst>
              <a:gd name="adj" fmla="val 4151"/>
            </a:avLst>
          </a:prstGeom>
          <a:solidFill>
            <a:srgbClr val="F4F6FA"/>
          </a:solidFill>
          <a:ln/>
          <a:effectLst>
            <a:outerShdw blurRad="762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1673352"/>
            <a:ext cx="384048" cy="384048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tmp/work/pptx_build/assets/icons/Fa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174" y="1723278"/>
            <a:ext cx="284196" cy="2841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53312" y="1673352"/>
            <a:ext cx="4379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agentcore/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96112" y="2167128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agentcore.json</a:t>
            </a:r>
            <a:r>
              <a:rPr lang="en-US" sz="8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Runtime, env vars, and credential provider config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96112" y="2414016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aws-targets.json</a:t>
            </a:r>
            <a:r>
              <a:rPr lang="en-US" sz="8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Deployment target (AWS account + region)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96112" y="2660904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.env.local</a:t>
            </a:r>
            <a:r>
              <a:rPr lang="en-US" sz="8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Local secrets (gitignored)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96112" y="2907792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.llm-context/</a:t>
            </a:r>
            <a:r>
              <a:rPr lang="en-US" sz="8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TypeScript type defs for the agentcore.json schema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896112" y="3154680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cdk/</a:t>
            </a:r>
            <a:r>
              <a:rPr lang="en-US" sz="8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CDK infra — deploy via `agentcore deploy`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254496" y="1508760"/>
            <a:ext cx="5294376" cy="2423160"/>
          </a:xfrm>
          <a:prstGeom prst="roundRect">
            <a:avLst>
              <a:gd name="adj" fmla="val 4151"/>
            </a:avLst>
          </a:prstGeom>
          <a:solidFill>
            <a:srgbClr val="F4F6FA"/>
          </a:solidFill>
          <a:ln/>
          <a:effectLst>
            <a:outerShdw blurRad="762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455664" y="1673352"/>
            <a:ext cx="384048" cy="384048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/tmp/work/pptx_build/assets/icons/Fa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590" y="1723278"/>
            <a:ext cx="284196" cy="2841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967728" y="1673352"/>
            <a:ext cx="4379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app/SetHaul/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510528" y="2167128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r>
              <a:rPr lang="en-US" sz="8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BedrockAgentCoreApp entrypoint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6510528" y="2414016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agentcore_app.py</a:t>
            </a:r>
            <a:r>
              <a:rPr lang="en-US" sz="8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Maps AgentCore invoke payloads to the LangChain chain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6510528" y="2660904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agent.py</a:t>
            </a:r>
            <a:r>
              <a:rPr lang="en-US" sz="8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Tools, system prompt, and the dispatch chain itself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6510528" y="2907792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schema.py</a:t>
            </a:r>
            <a:r>
              <a:rPr lang="en-US" sz="8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Pydantic models/enums for tool inputs and DB writes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6510528" y="3154680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model/load.py</a:t>
            </a:r>
            <a:r>
              <a:rPr lang="en-US" sz="8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Model client + AgentCore Identity API key resolution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6510528" y="3401568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observability.py</a:t>
            </a:r>
            <a:r>
              <a:rPr lang="en-US" sz="8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OTel metrics (messages loaded, response length)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6510528" y="3648456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mcp_client/</a:t>
            </a:r>
            <a:r>
              <a:rPr lang="en-US" sz="8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MCP client helper (not currently wired into the agent)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640080" y="4114800"/>
            <a:ext cx="10908792" cy="2331720"/>
          </a:xfrm>
          <a:prstGeom prst="roundRect">
            <a:avLst>
              <a:gd name="adj" fmla="val 4314"/>
            </a:avLst>
          </a:prstGeom>
          <a:solidFill>
            <a:srgbClr val="F4F6FA"/>
          </a:solidFill>
          <a:ln/>
          <a:effectLst>
            <a:outerShdw blurRad="762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841248" y="4279392"/>
            <a:ext cx="384048" cy="384048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2" descr="/tmp/work/pptx_build/assets/icons/Fa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174" y="4329318"/>
            <a:ext cx="284196" cy="28419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353312" y="427939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frontend/ — FleetPulse driver web app (React + Express, Vite)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896112" y="4773168"/>
            <a:ext cx="49697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server.ts</a:t>
            </a:r>
            <a:r>
              <a:rPr lang="en-US" sz="8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Dev/prod entrypoint (Vite middleware or static dist/)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896112" y="5084064"/>
            <a:ext cx="49697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server/app.ts</a:t>
            </a:r>
            <a:r>
              <a:rPr lang="en-US" sz="8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Express app + /api/chat (agent proxy, with fallback)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896112" y="5394960"/>
            <a:ext cx="49697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server/routes.ts</a:t>
            </a:r>
            <a:r>
              <a:rPr lang="en-US" sz="8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Driver/shipment/dock-slot REST API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896112" y="5705856"/>
            <a:ext cx="49697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server/supabaseClient.ts</a:t>
            </a:r>
            <a:r>
              <a:rPr lang="en-US" sz="8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Supabase client (service-role key, server-side)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896112" y="6016752"/>
            <a:ext cx="49697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server/shipmentShaping.ts</a:t>
            </a:r>
            <a:r>
              <a:rPr lang="en-US" sz="8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Joins raw rows into the client-facing Shipment view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6323076" y="4773168"/>
            <a:ext cx="49697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server/bedrockAgentCore.ts</a:t>
            </a:r>
            <a:r>
              <a:rPr lang="en-US" sz="8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Bedrock AgentCore invoke client + reply parsing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6323076" y="5084064"/>
            <a:ext cx="49697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api/index.ts</a:t>
            </a:r>
            <a:r>
              <a:rPr lang="en-US" sz="8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Vercel serverless entrypoint (wraps the Express app)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6323076" y="5394960"/>
            <a:ext cx="49697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src/App.tsx</a:t>
            </a:r>
            <a:r>
              <a:rPr lang="en-US" sz="8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Tab shell: shipment, booking, history, profile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6323076" y="5705856"/>
            <a:ext cx="49697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src/components/</a:t>
            </a:r>
            <a:r>
              <a:rPr lang="en-US" sz="8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ActiveShipment · SlotBooking · History · Profile · Auth · Chatbot</a:t>
            </a:r>
            <a:endParaRPr lang="en-US" sz="800" dirty="0"/>
          </a:p>
        </p:txBody>
      </p:sp>
      <p:sp>
        <p:nvSpPr>
          <p:cNvPr id="37" name="Text 32"/>
          <p:cNvSpPr/>
          <p:nvPr/>
        </p:nvSpPr>
        <p:spPr>
          <a:xfrm>
            <a:off x="6323076" y="6016752"/>
            <a:ext cx="49697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src/api/client.ts</a:t>
            </a:r>
            <a:r>
              <a:rPr lang="en-US" sz="8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Typed fetch wrappers for the /api/* routes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AWS hosting backbone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runtime, observability, secrets, caching, and hosting — how every piece is actually wired together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60097" y="1435608"/>
            <a:ext cx="5668759" cy="4946904"/>
          </a:xfrm>
          <a:prstGeom prst="roundRect">
            <a:avLst>
              <a:gd name="adj" fmla="val 221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762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tmp/work/pptx_build/assets/diagrams/aws_hosting_backb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4689" y="1600200"/>
            <a:ext cx="5339575" cy="4617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tools — nothing else the agent can do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a named, typed tool call — schema.py validates every write, every message is logged to chat_messages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F4F6FA"/>
          </a:solidFill>
          <a:ln/>
          <a:effectLst>
            <a:outerShdw blurRad="762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81051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get_driver_shipment_details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185416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a driver's active shipment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F4F6FA"/>
          </a:solidFill>
          <a:ln/>
          <a:effectLst>
            <a:outerShdw blurRad="762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0" y="181051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check_existing_open_exception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0" y="2185416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duplicate exception rows on retries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971800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F4F6FA"/>
          </a:solidFill>
          <a:ln/>
          <a:effectLst>
            <a:outerShdw blurRad="762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309067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record_exception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3465576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or update a driver-reported exception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2971800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F4F6FA"/>
          </a:solidFill>
          <a:ln/>
          <a:effectLst>
            <a:outerShdw blurRad="762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92240" y="309067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record_eta_update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3465576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a driver-declared ETA (additive audit trail)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251960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F4F6FA"/>
          </a:solidFill>
          <a:ln/>
          <a:effectLst>
            <a:outerShdw blurRad="762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43708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check_slot_availability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4745736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source of truth for feasible, available dock slots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4251960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F4F6FA"/>
          </a:solidFill>
          <a:ln/>
          <a:effectLst>
            <a:outerShdw blurRad="762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92240" y="43708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hold_slot / confirm_slot / release_hold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4745736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slot lifecycle via Postgres RPCs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5532120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F4F6FA"/>
          </a:solidFill>
          <a:ln/>
          <a:effectLst>
            <a:outerShdw blurRad="762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68680" y="56509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get_appointment_status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6025896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pending/confirmed appointment for a shipment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5532120"/>
            <a:ext cx="5257800" cy="1078992"/>
          </a:xfrm>
          <a:prstGeom prst="roundRect">
            <a:avLst>
              <a:gd name="adj" fmla="val 8475"/>
            </a:avLst>
          </a:prstGeom>
          <a:solidFill>
            <a:srgbClr val="F4F6FA"/>
          </a:solidFill>
          <a:ln/>
          <a:effectLst>
            <a:outerShdw blurRad="762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92240" y="56509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escalate_to_human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6025896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off when no feasible slot, contradictory info, or outside automated authority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194560"/>
            <a:ext cx="5029200" cy="5029200"/>
          </a:xfrm>
          <a:prstGeom prst="ellipse">
            <a:avLst/>
          </a:prstGeom>
          <a:solidFill>
            <a:srgbClr val="2436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502920"/>
            <a:ext cx="685800" cy="68580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tmp/work/pptx_build/assets/icons/FaTru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34" y="592074"/>
            <a:ext cx="507492" cy="5074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5212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now — not a local-only demo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417320"/>
            <a:ext cx="10881360" cy="868680"/>
          </a:xfrm>
          <a:prstGeom prst="roundRect">
            <a:avLst>
              <a:gd name="adj" fmla="val 12632"/>
            </a:avLst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60120" y="141732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set-haul-ui.vercel.app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40080" y="2606040"/>
            <a:ext cx="2578608" cy="1417320"/>
          </a:xfrm>
          <a:prstGeom prst="roundRect">
            <a:avLst>
              <a:gd name="adj" fmla="val 7742"/>
            </a:avLst>
          </a:prstGeom>
          <a:solidFill>
            <a:srgbClr val="2436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645920" y="2807208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/tmp/work/pptx_build/assets/icons/FaTru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621" y="2880909"/>
            <a:ext cx="419527" cy="41952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" y="3447288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Shipment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77240" y="3739896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9F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load status, ETA, and one-tap issue reporting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364992" y="2606040"/>
            <a:ext cx="2578608" cy="1417320"/>
          </a:xfrm>
          <a:prstGeom prst="roundRect">
            <a:avLst>
              <a:gd name="adj" fmla="val 7742"/>
            </a:avLst>
          </a:prstGeom>
          <a:solidFill>
            <a:srgbClr val="2436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370832" y="2807208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/tmp/work/pptx_build/assets/icons/FaCalendarA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4533" y="2880909"/>
            <a:ext cx="419527" cy="41952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02152" y="3447288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 Slot Booking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3502152" y="3739896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9F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Browse, hold and confirm real slots — hits hold_slot_atomic live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6089904" y="2606040"/>
            <a:ext cx="2578608" cy="1417320"/>
          </a:xfrm>
          <a:prstGeom prst="roundRect">
            <a:avLst>
              <a:gd name="adj" fmla="val 7742"/>
            </a:avLst>
          </a:prstGeom>
          <a:solidFill>
            <a:srgbClr val="2436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7095744" y="2807208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/tmp/work/pptx_build/assets/icons/FaChart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9445" y="2880909"/>
            <a:ext cx="419527" cy="41952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27064" y="3447288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Shipment History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6227064" y="3739896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9F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and cancelled loads, pulled straight from Supabase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8814816" y="2606040"/>
            <a:ext cx="2578608" cy="1417320"/>
          </a:xfrm>
          <a:prstGeom prst="roundRect">
            <a:avLst>
              <a:gd name="adj" fmla="val 7742"/>
            </a:avLst>
          </a:prstGeom>
          <a:solidFill>
            <a:srgbClr val="2436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9820656" y="2807208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/tmp/work/pptx_build/assets/icons/Fa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4357" y="2880909"/>
            <a:ext cx="419527" cy="41952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951976" y="3447288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 Profile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8951976" y="3739896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9F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vehicle and carrier details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640080" y="4343400"/>
            <a:ext cx="1088136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960120" y="4617720"/>
            <a:ext cx="685800" cy="68580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5" descr="/tmp/work/pptx_build/assets/icons/FaCommen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9274" y="4706874"/>
            <a:ext cx="507492" cy="50749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874520" y="45720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chatbot calls the real deployed agent — and degrades honestly if it can't</a:t>
            </a:r>
            <a:endParaRPr lang="en-US" sz="1550" dirty="0"/>
          </a:p>
        </p:txBody>
      </p:sp>
      <p:sp>
        <p:nvSpPr>
          <p:cNvPr id="32" name="Text 24"/>
          <p:cNvSpPr/>
          <p:nvPr/>
        </p:nvSpPr>
        <p:spPr>
          <a:xfrm>
            <a:off x="1874520" y="5029200"/>
            <a:ext cx="9281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“FleetPulse Dispatch Co-Pilot” widget posts to /api/chat, which invokes the live Bedrock AgentCore runtime. If AWS is unreachable or unconfigured, it falls back to clear, honest canned responses instead of failing silently — the UI never pretends a broken connection is a working one.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actually looks like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screens captured from set-haul-ui.vercel.app — not mockups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00800" cy="4709160"/>
          </a:xfrm>
          <a:prstGeom prst="roundRect">
            <a:avLst>
              <a:gd name="adj" fmla="val 2330"/>
            </a:avLst>
          </a:prstGeom>
          <a:solidFill>
            <a:srgbClr val="F4F6FA"/>
          </a:solidFill>
          <a:ln/>
          <a:effectLst>
            <a:outerShdw blurRad="762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" y="1728216"/>
            <a:ext cx="5998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Shipment — SHP-1009, driver Deepak Singh (DRV-109)</a:t>
            </a:r>
            <a:endParaRPr lang="en-US" sz="1300" dirty="0"/>
          </a:p>
        </p:txBody>
      </p:sp>
      <p:pic>
        <p:nvPicPr>
          <p:cNvPr id="6" name="Image 0" descr="/tmp/work/pptx_build/assets/screenshots/fp_ship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973" y="2020824"/>
            <a:ext cx="5283014" cy="42153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0" y="1600200"/>
            <a:ext cx="4206240" cy="2217420"/>
          </a:xfrm>
          <a:prstGeom prst="roundRect">
            <a:avLst>
              <a:gd name="adj" fmla="val 4948"/>
            </a:avLst>
          </a:prstGeom>
          <a:solidFill>
            <a:srgbClr val="F4F6FA"/>
          </a:solidFill>
          <a:ln/>
          <a:effectLst>
            <a:outerShdw blurRad="762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516368" y="1728216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 Authentication</a:t>
            </a:r>
            <a:endParaRPr lang="en-US" sz="1300" dirty="0"/>
          </a:p>
        </p:txBody>
      </p:sp>
      <p:pic>
        <p:nvPicPr>
          <p:cNvPr id="9" name="Image 1" descr="/tmp/work/pptx_build/assets/screenshots/fp_log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4000" y="2020824"/>
            <a:ext cx="1568640" cy="17236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315200" y="4091940"/>
            <a:ext cx="4206240" cy="2217420"/>
          </a:xfrm>
          <a:prstGeom prst="roundRect">
            <a:avLst>
              <a:gd name="adj" fmla="val 4948"/>
            </a:avLst>
          </a:prstGeom>
          <a:solidFill>
            <a:srgbClr val="F4F6FA"/>
          </a:solidFill>
          <a:ln/>
          <a:effectLst>
            <a:outerShdw blurRad="762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7516368" y="4219956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 Profile</a:t>
            </a:r>
            <a:endParaRPr lang="en-US" sz="1300" dirty="0"/>
          </a:p>
        </p:txBody>
      </p:sp>
      <p:pic>
        <p:nvPicPr>
          <p:cNvPr id="12" name="Image 2" descr="/tmp/work/pptx_build/assets/screenshots/fp_pro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0153" y="4512564"/>
            <a:ext cx="3036333" cy="17236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we'd measure this — and what we'd add next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57800" cy="4846320"/>
          </a:xfrm>
          <a:prstGeom prst="roundRect">
            <a:avLst>
              <a:gd name="adj" fmla="val 2642"/>
            </a:avLst>
          </a:prstGeom>
          <a:solidFill>
            <a:srgbClr val="F4F6FA"/>
          </a:solidFill>
          <a:ln/>
          <a:effectLst>
            <a:outerShdw blurRad="762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60120" y="1645920"/>
            <a:ext cx="594360" cy="59436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tmp/work/pptx_build/assets/icons/FaChart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387" y="1723187"/>
            <a:ext cx="439826" cy="43982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6642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metrics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60120" y="242316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first message to usable outcome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exceptions resolved without manual takeover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Double-booking rate — zero, by construction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No-feasible-slot escalations handled correctly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driver waiting time after rescheduling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63640" y="1371600"/>
            <a:ext cx="5257800" cy="4846320"/>
          </a:xfrm>
          <a:prstGeom prst="roundRect">
            <a:avLst>
              <a:gd name="adj" fmla="val 2642"/>
            </a:avLst>
          </a:prstGeom>
          <a:solidFill>
            <a:srgbClr val="F4F6FA"/>
          </a:solidFill>
          <a:ln/>
          <a:effectLst>
            <a:outerShdw blurRad="76200" dist="38100" dir="5400000" algn="bl" rotWithShape="0">
              <a:srgbClr val="1B2A4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583680" y="1645920"/>
            <a:ext cx="594360" cy="59436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/tmp/work/pptx_build/assets/icons/FaToo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0947" y="1723187"/>
            <a:ext cx="439826" cy="43982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60920" y="16642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limitations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583680" y="242316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degrades to canned keyword-matched replies if AWS/Bedrock is unreachable — not a graceful LLM fallback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mcp_client/ helper exists in the repo but isn't wired into the agent yet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model is Gemini 2.5 Flash via OpenRouter, not a Bedrock-native model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across carriers is flagged, not implemented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background sweep to auto-expire stale holds yet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486400" cy="5486400"/>
          </a:xfrm>
          <a:prstGeom prst="ellipse">
            <a:avLst/>
          </a:prstGeom>
          <a:solidFill>
            <a:srgbClr val="2436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01200" y="4389120"/>
            <a:ext cx="4572000" cy="4572000"/>
          </a:xfrm>
          <a:prstGeom prst="ellipse">
            <a:avLst/>
          </a:prstGeom>
          <a:solidFill>
            <a:srgbClr val="2436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13248" y="3703320"/>
            <a:ext cx="640080" cy="64008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tmp/work/pptx_build/assets/icons/Fa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6458" y="3786530"/>
            <a:ext cx="473659" cy="4736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480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 </a:t>
            </a: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sood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Jamuna   ·   Neeraj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4937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C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SetuHaul Logistics — Driver Exception &amp; Dock-Slot Coordination — FDE Academy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4757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1558</Words>
  <Application>Microsoft Office PowerPoint</Application>
  <PresentationFormat>Widescreen</PresentationFormat>
  <Paragraphs>228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SetuHaul -- Driver Exception &amp; Dock-Slot Coordination</dc:title>
  <dc:subject>PptxGenJS Presentation</dc:subject>
  <dc:creator>Jamuna</dc:creator>
  <cp:lastModifiedBy>Jamuna Kumaresan</cp:lastModifiedBy>
  <cp:revision>4</cp:revision>
  <dcterms:created xsi:type="dcterms:W3CDTF">2026-08-17T15:22:39Z</dcterms:created>
  <dcterms:modified xsi:type="dcterms:W3CDTF">2026-08-17T15:27:41Z</dcterms:modified>
</cp:coreProperties>
</file>